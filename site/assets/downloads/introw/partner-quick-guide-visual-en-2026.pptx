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artnerportal.factorial.co" TargetMode="Externa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48840"/>
            <a:ext cx="111858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Introw — Partner quick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06324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Your portal to share deals, track progress, and access partner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89320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</a:rPr>
              <a:t>English · For partners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/>
              <a:t>What is Introw?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/>
            </a:pPr>
            <a:r>
              <a:t>Introw is Factorial’s partner portal — where we collaborate day to day.</a:t>
            </a:r>
          </a:p>
          <a:p>
            <a:pPr>
              <a:spcAft>
                <a:spcPts val="400"/>
              </a:spcAft>
              <a:defRPr sz="1700"/>
            </a:pPr>
            <a:r>
              <a:t>You can:</a:t>
            </a:r>
          </a:p>
          <a:p>
            <a:pPr>
              <a:spcAft>
                <a:spcPts val="400"/>
              </a:spcAft>
              <a:defRPr sz="1700"/>
            </a:pPr>
            <a:r>
              <a:t>• Submit net-new sales opportunities</a:t>
            </a:r>
          </a:p>
          <a:p>
            <a:pPr>
              <a:spcAft>
                <a:spcPts val="400"/>
              </a:spcAft>
              <a:defRPr sz="1700"/>
            </a:pPr>
            <a:r>
              <a:t>• Track and update deal progress across shared pipelines</a:t>
            </a:r>
          </a:p>
          <a:p>
            <a:pPr>
              <a:spcAft>
                <a:spcPts val="400"/>
              </a:spcAft>
              <a:defRPr sz="1700"/>
            </a:pPr>
            <a:r>
              <a:t>• Review customer basics (plan · usage · renewals) when available</a:t>
            </a:r>
          </a:p>
          <a:p>
            <a:pPr>
              <a:spcAft>
                <a:spcPts val="400"/>
              </a:spcAft>
              <a:defRPr sz="1700"/>
            </a:pPr>
            <a:r>
              <a:t>• Download enablement/content shared by Demand Gen + Partner Managers</a:t>
            </a:r>
          </a:p>
          <a:p>
            <a:pPr>
              <a:spcAft>
                <a:spcPts val="400"/>
              </a:spcAft>
              <a:defRPr sz="1700"/>
            </a:pPr>
            <a:r>
              <a:t>Tip: Need full step-by-step detail? Keep the detailed guide handy as a companion.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/>
              <a:t>Log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Your Partner Manager grants access first.</a:t>
            </a:r>
          </a:p>
          <a:p>
            <a:pPr>
              <a:spcAft>
                <a:spcPts val="400"/>
              </a:spcAft>
              <a:defRPr sz="1600"/>
            </a:pPr>
            <a:r>
              <a:t>You’ll receive an email link — usually no separate sign-up.</a:t>
            </a:r>
          </a:p>
          <a:p>
            <a:pPr>
              <a:spcAft>
                <a:spcPts val="400"/>
              </a:spcAft>
              <a:defRPr sz="1600"/>
            </a:pPr>
            <a:r>
              <a:t>If you can’t log in yet, contact your Partner Manager.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1858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Open: </a:t>
            </a:r>
            <a:r>
              <a:rPr sz="2000" b="1">
                <a:hlinkClick r:id="rId2"/>
              </a:rPr>
              <a:t>partnerportal.factorial.co</a:t>
            </a:r>
          </a:p>
        </p:txBody>
      </p:sp>
      <p:pic>
        <p:nvPicPr>
          <p:cNvPr id="5" name="Picture 4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541" y="2606040"/>
            <a:ext cx="488861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/>
              <a:t>Portal navigation (tabs)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5806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Welcome Space — quick links + Partner Manager contacts</a:t>
            </a:r>
          </a:p>
          <a:p>
            <a:pPr>
              <a:spcAft>
                <a:spcPts val="400"/>
              </a:spcAft>
              <a:defRPr sz="1500"/>
            </a:pPr>
            <a:r>
              <a:t>Dashboard — monthly goals overview (tell your Partner Manager if something looks wrong)</a:t>
            </a:r>
          </a:p>
          <a:p>
            <a:pPr>
              <a:spcAft>
                <a:spcPts val="400"/>
              </a:spcAft>
              <a:defRPr sz="1500"/>
            </a:pPr>
            <a:r>
              <a:t>Sales Pipelines — deals (new biz + CRM visibility)</a:t>
            </a:r>
          </a:p>
          <a:p>
            <a:pPr>
              <a:spcAft>
                <a:spcPts val="400"/>
              </a:spcAft>
              <a:defRPr sz="1500"/>
            </a:pPr>
            <a:r>
              <a:t>Clients — customers + Upsell tracking</a:t>
            </a:r>
          </a:p>
          <a:p>
            <a:pPr>
              <a:spcAft>
                <a:spcPts val="400"/>
              </a:spcAft>
              <a:defRPr sz="1500"/>
            </a:pPr>
            <a:r>
              <a:t>Onboardings — progress for Experts (availability may vary)</a:t>
            </a:r>
          </a:p>
          <a:p>
            <a:pPr>
              <a:spcAft>
                <a:spcPts val="400"/>
              </a:spcAft>
              <a:defRPr sz="1500"/>
            </a:pPr>
            <a:r>
              <a:t>Send a request — partner requests</a:t>
            </a:r>
          </a:p>
          <a:p>
            <a:pPr>
              <a:spcAft>
                <a:spcPts val="400"/>
              </a:spcAft>
              <a:defRPr sz="1500"/>
            </a:pPr>
            <a:r>
              <a:t>Resources — materials (CIAB, PDFs, training, launches)</a:t>
            </a:r>
          </a:p>
        </p:txBody>
      </p:sp>
      <p:pic>
        <p:nvPicPr>
          <p:cNvPr id="4" name="Picture 3" descr="image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312" y="2286000"/>
            <a:ext cx="4319071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Sales Pipelines — the 3 views partners use most</a:t>
            </a:r>
          </a:p>
        </p:txBody>
      </p:sp>
      <p:pic>
        <p:nvPicPr>
          <p:cNvPr id="3" name="Picture 2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278" y="960120"/>
            <a:ext cx="3949139" cy="3977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956048"/>
            <a:ext cx="1118585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SDR Partner Opportunities — early outreach until first demo booked</a:t>
            </a:r>
          </a:p>
          <a:p>
            <a:pPr>
              <a:spcAft>
                <a:spcPts val="400"/>
              </a:spcAft>
              <a:defRPr sz="1500"/>
            </a:pPr>
            <a:r>
              <a:t>Partners Distribution — from first demo to Closed Won/Lost</a:t>
            </a:r>
          </a:p>
          <a:p>
            <a:pPr>
              <a:spcAft>
                <a:spcPts val="400"/>
              </a:spcAft>
              <a:defRPr sz="1500"/>
            </a:pPr>
            <a:r>
              <a:t>Sales Pipeline — visibility when Factorial Sales is engaged (partner influence scenarios)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/>
              <a:t>Dashboard (goals)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Use this as a lightweight monthly tracker for commercial + Demand Gen objectives.</a:t>
            </a:r>
          </a:p>
          <a:p>
            <a:pPr>
              <a:spcAft>
                <a:spcPts val="400"/>
              </a:spcAft>
              <a:defRPr sz="1600"/>
            </a:pPr>
            <a:r>
              <a:t>If numbers look inconsistent, ping your Partner Manager.</a:t>
            </a:r>
          </a:p>
        </p:txBody>
      </p:sp>
      <p:pic>
        <p:nvPicPr>
          <p:cNvPr id="4" name="Picture 3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530" y="1965960"/>
            <a:ext cx="4584634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/>
              <a:t>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Primarily financial + adoption signals for accounts linked to partners.</a:t>
            </a:r>
          </a:p>
          <a:p>
            <a:pPr>
              <a:spcAft>
                <a:spcPts val="400"/>
              </a:spcAft>
              <a:defRPr sz="1500"/>
            </a:pPr>
            <a:r>
              <a:t>Common fields: recurring revenue · renewal/discount timelines · seats · usage.</a:t>
            </a:r>
          </a:p>
          <a:p>
            <a:pPr>
              <a:spcAft>
                <a:spcPts val="400"/>
              </a:spcAft>
              <a:defRPr sz="1500"/>
            </a:pPr>
            <a:r>
              <a:t>Upsell pipeline: tracks plan upgrades/contract changes surfaced as opportunities.</a:t>
            </a:r>
          </a:p>
          <a:p>
            <a:pPr>
              <a:spcAft>
                <a:spcPts val="400"/>
              </a:spcAft>
              <a:defRPr sz="1500"/>
            </a:pPr>
            <a:r>
              <a:t>Note: some renewals/discount-expiry motions may auto-create.</a:t>
            </a:r>
          </a:p>
        </p:txBody>
      </p:sp>
      <p:pic>
        <p:nvPicPr>
          <p:cNvPr id="4" name="Picture 3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325" y="2395728"/>
            <a:ext cx="4285044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/>
              <a:t>Onboardings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Shows onboarding progress between Expert partners and Factorial.</a:t>
            </a:r>
          </a:p>
          <a:p>
            <a:pPr>
              <a:spcAft>
                <a:spcPts val="400"/>
              </a:spcAft>
              <a:defRPr sz="1600"/>
            </a:pPr>
            <a:r>
              <a:t>Track milestones, hours utilized, launch timings, and the Factorial point of contact.</a:t>
            </a:r>
          </a:p>
        </p:txBody>
      </p:sp>
      <p:pic>
        <p:nvPicPr>
          <p:cNvPr id="4" name="Picture 3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530" y="2148840"/>
            <a:ext cx="4584634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/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Curated Demand Gen + Partner Manager content to speed up execution.</a:t>
            </a:r>
          </a:p>
          <a:p>
            <a:pPr>
              <a:spcAft>
                <a:spcPts val="400"/>
              </a:spcAft>
              <a:defRPr sz="1600"/>
            </a:pPr>
            <a:r>
              <a:t>Expect things like Campaign-in-a-Box, sequences, PDFs, training clips, launches.</a:t>
            </a:r>
          </a:p>
          <a:p>
            <a:pPr>
              <a:spcAft>
                <a:spcPts val="400"/>
              </a:spcAft>
              <a:defRPr sz="1600"/>
            </a:pPr>
            <a:r>
              <a:t>Want something new? Tell your Partner Manager.</a:t>
            </a:r>
          </a:p>
        </p:txBody>
      </p:sp>
      <p:pic>
        <p:nvPicPr>
          <p:cNvPr id="4" name="Picture 3" descr="imag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814" y="2194560"/>
            <a:ext cx="5578067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Submit a sales 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46120"/>
            <a:ext cx="111858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/>
              <a:t>The fastest workflow for partners registering a Factorial buying opportunity.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Step 1 — Go to Sales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Pick the pipeline you’re working.</a:t>
            </a:r>
          </a:p>
          <a:p>
            <a:pPr>
              <a:spcAft>
                <a:spcPts val="400"/>
              </a:spcAft>
              <a:defRPr sz="1600"/>
            </a:pPr>
            <a:r>
              <a:t>Click "+ Add deal" (top-right) to open the submission form.</a:t>
            </a:r>
          </a:p>
        </p:txBody>
      </p:sp>
      <p:pic>
        <p:nvPicPr>
          <p:cNvPr id="4" name="Picture 3" descr="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992" y="1755648"/>
            <a:ext cx="711771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Step 2 — The deal form has 4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Partner info (Uploader email)</a:t>
            </a:r>
          </a:p>
          <a:p>
            <a:pPr>
              <a:spcAft>
                <a:spcPts val="400"/>
              </a:spcAft>
              <a:defRPr sz="1600"/>
            </a:pPr>
            <a:r>
              <a:t>Opportunity basics (company, size, currency, origin, timelines)</a:t>
            </a:r>
          </a:p>
          <a:p>
            <a:pPr>
              <a:spcAft>
                <a:spcPts val="400"/>
              </a:spcAft>
              <a:defRPr sz="1600"/>
            </a:pPr>
            <a:r>
              <a:t>Main contact info (validated email domain)</a:t>
            </a:r>
          </a:p>
          <a:p>
            <a:pPr>
              <a:spcAft>
                <a:spcPts val="400"/>
              </a:spcAft>
              <a:defRPr sz="1600"/>
            </a:pPr>
            <a:r>
              <a:t>Comments — context beats empty fields.</a:t>
            </a:r>
          </a:p>
        </p:txBody>
      </p:sp>
      <p:pic>
        <p:nvPicPr>
          <p:cNvPr id="4" name="Picture 3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820" y="2057400"/>
            <a:ext cx="2368054" cy="44988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Step 3 — Rules that prevent friction</a:t>
            </a:r>
          </a:p>
        </p:txBody>
      </p:sp>
      <p:pic>
        <p:nvPicPr>
          <p:cNvPr id="3" name="Picture 2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4526280" cy="11250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94960" y="960120"/>
            <a:ext cx="672084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"Already in contact?" Yes for reseller/expert partners; No for referrals (Sales may engage).</a:t>
            </a:r>
          </a:p>
          <a:p>
            <a:pPr>
              <a:spcAft>
                <a:spcPts val="400"/>
              </a:spcAft>
              <a:defRPr sz="1400"/>
            </a:pPr>
            <a:r>
              <a:t>Demo booked / demo held:</a:t>
            </a:r>
          </a:p>
          <a:p>
            <a:pPr>
              <a:spcAft>
                <a:spcPts val="400"/>
              </a:spcAft>
              <a:defRPr sz="1400"/>
            </a:pPr>
            <a:r>
              <a:t>- Booked/Held only when real dates exist.</a:t>
            </a:r>
          </a:p>
          <a:p>
            <a:pPr>
              <a:spcAft>
                <a:spcPts val="400"/>
              </a:spcAft>
              <a:defRPr sz="1400"/>
            </a:pPr>
            <a:r>
              <a:t>- Demo Held must be a past date.</a:t>
            </a:r>
          </a:p>
          <a:p>
            <a:pPr>
              <a:spcAft>
                <a:spcPts val="400"/>
              </a:spcAft>
              <a:defRPr sz="1400"/>
            </a:pPr>
            <a:r>
              <a:t>Contact email:</a:t>
            </a:r>
          </a:p>
          <a:p>
            <a:pPr>
              <a:spcAft>
                <a:spcPts val="400"/>
              </a:spcAft>
              <a:defRPr sz="1400"/>
            </a:pPr>
            <a:r>
              <a:t>- Must align with company domain.</a:t>
            </a:r>
          </a:p>
          <a:p>
            <a:pPr>
              <a:spcAft>
                <a:spcPts val="400"/>
              </a:spcAft>
              <a:defRPr sz="1400"/>
            </a:pPr>
            <a:r>
              <a:t>- No generic inboxes (@gmail, @hotmail, etc.).</a:t>
            </a:r>
          </a:p>
          <a:p>
            <a:pPr>
              <a:spcAft>
                <a:spcPts val="400"/>
              </a:spcAft>
              <a:defRPr sz="1400"/>
            </a:pPr>
            <a:r>
              <a:t>Phone numbers: include country code.</a:t>
            </a:r>
          </a:p>
          <a:p>
            <a:pPr>
              <a:spcAft>
                <a:spcPts val="400"/>
              </a:spcAft>
              <a:defRPr sz="1400"/>
            </a:pPr>
            <a:r>
              <a:t>Estimated close date — best forecast; editable later.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Step 4 — Submit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Deal creation commonly takes ~30 minutes while Factorial validates against CRM.</a:t>
            </a:r>
          </a:p>
          <a:p>
            <a:pPr>
              <a:spcAft>
                <a:spcPts val="400"/>
              </a:spcAft>
              <a:defRPr sz="1600"/>
            </a:pPr>
            <a:r>
              <a:t>You should receive a confirmation email when it’s created.</a:t>
            </a:r>
          </a:p>
          <a:p>
            <a:pPr>
              <a:spcAft>
                <a:spcPts val="400"/>
              </a:spcAft>
              <a:defRPr sz="1600"/>
            </a:pPr>
            <a:r>
              <a:t>If the company is already in an active sales cycle or is a customer, you’ll get a “not created” notice.</a:t>
            </a:r>
          </a:p>
        </p:txBody>
      </p:sp>
      <p:pic>
        <p:nvPicPr>
          <p:cNvPr id="4" name="Picture 3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33" y="2331720"/>
            <a:ext cx="1010862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317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Manage deals in Introw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461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/>
              <a:t>Partners Distribution · Upsell · Onboarding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Partners Distribution — Kanban basics</a:t>
            </a:r>
          </a:p>
        </p:txBody>
      </p:sp>
      <p:pic>
        <p:nvPicPr>
          <p:cNvPr id="3" name="Picture 2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847" y="1005840"/>
            <a:ext cx="3586001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754880"/>
            <a:ext cx="111858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Cards move left→right until Closed Won 🏆 or Closed Lost ❌.</a:t>
            </a:r>
          </a:p>
          <a:p>
            <a:pPr>
              <a:spcAft>
                <a:spcPts val="400"/>
              </a:spcAft>
              <a:defRPr sz="1400"/>
            </a:pPr>
            <a:r>
              <a:t>Stages (condensed): New → Meeting booked → Discovery &amp; Product Alignment (after 1st demo) → Pricing &amp; Packaging → Contracting (after draft sent) → Closed Pending Payment → Outcome.</a:t>
            </a:r>
          </a:p>
          <a:p>
            <a:pPr>
              <a:spcAft>
                <a:spcPts val="400"/>
              </a:spcAft>
              <a:defRPr sz="1400"/>
            </a:pPr>
            <a:r>
              <a:t>Open a card to edit properties + log Activity for Factorial.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Inside the deal card</a:t>
            </a:r>
          </a:p>
        </p:txBody>
      </p:sp>
      <p:pic>
        <p:nvPicPr>
          <p:cNvPr id="3" name="Picture 2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717" y="960120"/>
            <a:ext cx="3327166" cy="2971800"/>
          </a:xfrm>
          <a:prstGeom prst="rect">
            <a:avLst/>
          </a:prstGeom>
        </p:spPr>
      </p:pic>
      <p:pic>
        <p:nvPicPr>
          <p:cNvPr id="4" name="Picture 3" descr="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849" y="960120"/>
            <a:ext cx="1965222" cy="2971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069080"/>
            <a:ext cx="11185855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Edit highlights: demo dates (booked vs held), forecast, amount (expected MRR after discounts, exclude onboarding), employee count refresh.</a:t>
            </a:r>
          </a:p>
          <a:p>
            <a:pPr>
              <a:spcAft>
                <a:spcPts val="400"/>
              </a:spcAft>
              <a:defRPr sz="1400"/>
            </a:pPr>
            <a:r>
              <a:t>Activity: add notes 24–48h after meaningful touchpoints (what happened + next step + date).</a:t>
            </a:r>
          </a:p>
          <a:p>
            <a:pPr>
              <a:spcAft>
                <a:spcPts val="400"/>
              </a:spcAft>
              <a:defRPr sz="1400"/>
            </a:pPr>
            <a:r>
              <a:t>Collaborators / Account / Contacts help you see Factorial owners + CRM contacts.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Upsell pipeline (Clients tab)</a:t>
            </a:r>
          </a:p>
        </p:txBody>
      </p:sp>
      <p:pic>
        <p:nvPicPr>
          <p:cNvPr id="3" name="Picture 2" descr="image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412" y="960120"/>
            <a:ext cx="3286336" cy="2926080"/>
          </a:xfrm>
          <a:prstGeom prst="rect">
            <a:avLst/>
          </a:prstGeom>
        </p:spPr>
      </p:pic>
      <p:pic>
        <p:nvPicPr>
          <p:cNvPr id="4" name="Picture 3" descr="image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895" y="960120"/>
            <a:ext cx="3366249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023360"/>
            <a:ext cx="1118585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Kanban-style from Opportunity Detected → outcome.</a:t>
            </a:r>
          </a:p>
          <a:p>
            <a:pPr>
              <a:spcAft>
                <a:spcPts val="400"/>
              </a:spcAft>
              <a:defRPr sz="1300"/>
            </a:pPr>
            <a:r>
              <a:t>Use "+ Add deal" for upsell submissions (company names must match Clients view).</a:t>
            </a:r>
          </a:p>
          <a:p>
            <a:pPr>
              <a:spcAft>
                <a:spcPts val="400"/>
              </a:spcAft>
              <a:defRPr sz="1300"/>
            </a:pPr>
            <a:r>
              <a:t>Focus Upsell submissions on product expansion — some renewal/discount flows auto-create.</a:t>
            </a:r>
          </a:p>
          <a:p>
            <a:pPr>
              <a:spcAft>
                <a:spcPts val="400"/>
              </a:spcAft>
              <a:defRPr sz="1300"/>
            </a:pPr>
            <a:r>
              <a:t>Properties examples: Upsell type, Next step, Priority, Charging model, Amount, Commando collaborator (when applicable).</a:t>
            </a:r>
          </a:p>
          <a:p>
            <a:pPr>
              <a:spcAft>
                <a:spcPts val="400"/>
              </a:spcAft>
              <a:defRPr sz="1300"/>
            </a:pPr>
            <a:r>
              <a:t>Activity expectation matches sales deals: concise updates shortly after milestones.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Onboarding pipeline</a:t>
            </a:r>
          </a:p>
        </p:txBody>
      </p:sp>
      <p:pic>
        <p:nvPicPr>
          <p:cNvPr id="3" name="Picture 2" descr="imag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568" y="987552"/>
            <a:ext cx="4960558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736592"/>
            <a:ext cx="11185855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New onboardings typically start from Factorial; partners track milestones + launch timing.</a:t>
            </a:r>
          </a:p>
          <a:p>
            <a:pPr>
              <a:spcAft>
                <a:spcPts val="400"/>
              </a:spcAft>
              <a:defRPr sz="1400"/>
            </a:pPr>
            <a:r>
              <a:t>Stages include progress buckets, pause states, outcomes (Completed variants · Failed).</a:t>
            </a:r>
          </a:p>
          <a:p>
            <a:pPr>
              <a:spcAft>
                <a:spcPts val="400"/>
              </a:spcAft>
              <a:defRPr sz="1400"/>
            </a:pPr>
            <a:r>
              <a:t>Owners: Deal Owner on Factorial + Account Manager = Partner Manager; align Launch estimate with Close when active.</a:t>
            </a:r>
          </a:p>
          <a:p>
            <a:pPr>
              <a:spcAft>
                <a:spcPts val="400"/>
              </a:spcAft>
              <a:defRPr sz="1400"/>
            </a:pPr>
            <a:r>
              <a:t>Use Activity to share customer signals + unblockers promptly.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74519"/>
            <a:ext cx="111858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Need help?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926080"/>
            <a:ext cx="11185855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/>
            </a:pPr>
            <a:r>
              <a:t>Questions, blockers, or feedback → start with your Partner Manager.</a:t>
            </a:r>
          </a:p>
          <a:p>
            <a:pPr>
              <a:spcAft>
                <a:spcPts val="400"/>
              </a:spcAft>
              <a:defRPr sz="2000"/>
            </a:pPr>
            <a:r>
              <a:t>They route you to the right Factorial specialist quickly.</a:t>
            </a:r>
          </a:p>
          <a:p>
            <a:pPr>
              <a:spcAft>
                <a:spcPts val="400"/>
              </a:spcAft>
              <a:defRPr sz="2000"/>
            </a:pPr>
          </a:p>
          <a:p>
            <a:pPr>
              <a:spcAft>
                <a:spcPts val="400"/>
              </a:spcAft>
              <a:defRPr sz="2000"/>
            </a:pPr>
            <a:r>
              <a:t>This quick guide summarizes the detailed onboarding deck.</a:t>
            </a:r>
          </a:p>
          <a:p>
            <a:pPr>
              <a:spcAft>
                <a:spcPts val="400"/>
              </a:spcAft>
              <a:defRPr sz="2000"/>
            </a:pPr>
            <a:r>
              <a:t>Last update mirrored from Factorial guidance: January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